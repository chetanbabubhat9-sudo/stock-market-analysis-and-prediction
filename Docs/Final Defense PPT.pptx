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1" r:id="rId9"/>
    <p:sldId id="280" r:id="rId10"/>
    <p:sldId id="285" r:id="rId11"/>
    <p:sldId id="287" r:id="rId12"/>
    <p:sldId id="288" r:id="rId13"/>
    <p:sldId id="289" r:id="rId14"/>
    <p:sldId id="266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580" autoAdjust="0"/>
    <p:restoredTop sz="90476" autoAdjust="0"/>
  </p:normalViewPr>
  <p:slideViewPr>
    <p:cSldViewPr snapToGrid="0">
      <p:cViewPr varScale="1">
        <p:scale>
          <a:sx n="55" d="100"/>
          <a:sy n="55" d="100"/>
        </p:scale>
        <p:origin x="45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0B5EF-6666-4C91-B8C8-2E889780887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53CC8-CEFA-452C-A6AB-C4B5E5DD9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0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53CC8-CEFA-452C-A6AB-C4B5E5DD9D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2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53CC8-CEFA-452C-A6AB-C4B5E5DD9D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5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53CC8-CEFA-452C-A6AB-C4B5E5DD9D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7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53CC8-CEFA-452C-A6AB-C4B5E5DD9D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77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53CC8-CEFA-452C-A6AB-C4B5E5DD9D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2CD4-0138-1F69-D443-734C2086D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72411-3331-62E5-F964-5877722E9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319D3-3632-82CC-80D9-DCE12B89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4E91-4837-4881-9FC2-74E61210776A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9358C-00FB-A589-7AE4-6A3E35CB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47E-58C4-33AE-EC7C-7DBDAE85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4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87CF-1EC9-84B8-C2A7-3B070A5B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855D-184D-9DFB-DD81-E0A1B17C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8CC5-A24B-71EE-22AC-729B39FF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84B8-F1DF-4236-B28D-A5CBAF0CFACB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B8979-4E36-10B9-4365-02701150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6B41-43F3-4F3F-4C46-36A4E4D7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7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F403-7328-690D-4717-81509013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9C7D9-8ED0-8AC0-8E11-3BAA75F6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D58B-C126-4C06-9547-1993D37F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73B2A-5BFF-4BDD-A32E-0F12C7A50EAF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280A-ADD0-127A-10F0-7961A61D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7BA36-DF1A-8104-CEDA-2DDE07DE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7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D19B-6DD5-A0A8-794B-CEC0BA51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9C0FA-5696-4E13-2ECF-DAC7FD9E8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72BD9-C6B9-73A3-A547-FDC729821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5B284-F598-286C-5A6A-714AC97A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5130-DBA5-40A4-85FB-BE49D1C3841A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966B0-FE4D-FD72-B03B-EAD80184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D274D-1363-83FC-744F-4D8C661C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9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A089-087D-A4CA-8E1A-21458AF9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3450D-0EB9-CC26-BC49-925C88830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7605C-D496-7747-3F4A-E0C138CDE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142B8-A4E5-4877-3363-4097B2445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6553F-9EBC-5A6E-4BE6-2AE17DCC7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52D91-A04B-CFB8-ED08-CC10497E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764C-2C6E-45B2-8EF7-8C48B5BE7FE6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982B4-59C4-F8E0-4CC8-9DAFE663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6CB41-4F0E-A8DF-9F38-6465A662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1A2D-58BF-C38F-A0FB-95709F83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42ABD-591D-BCB3-8729-9B5EDBD0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AF77-173C-4564-81CE-88BA7E4600BF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C1E65-4854-C2EC-4EDE-06D3FE08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3776E-D604-684D-5E9C-5E3A9F87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82AD8-5FE1-5CFA-6D8E-DC91169F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8A22-753E-4401-A92F-E45EEA7AE398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E0568-3220-02FC-E0AA-58021DC9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A5FC6-E40C-D73D-C831-16EEB6A9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5E1B-173E-7FDC-7AF1-21D3CB1C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BFB1-87A3-7D61-EAA6-7D96FA59E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0D0A8-13B6-3FE9-06A9-C21790698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23CA1-64B8-DA3E-CC46-2C70D908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04863-1A3B-4394-968A-B4B95DC95FB2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ABE27-C488-3F5E-EE11-7EB23C95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7EFDE-5E71-CE7E-3528-FA8A94DB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94FE-F4EA-75E6-E406-52AC6302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BB267-EDB6-C6FA-4239-2E58C9294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365A-8723-91DF-2006-41F7837F2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95FC1-CA2C-D0B2-9604-36E8D1FF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E2B8-3243-473F-9495-C247BD793DF2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BDE01-77DE-E4A7-FC63-55714DCE0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6CD28-F4C4-1CD6-A50A-F8046A60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9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16BD-BD34-CDB2-953F-A8FB2DC3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40DE2-0F43-90DF-E009-9415579CB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705D3-54BD-80BF-1541-0635A59C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31CD-1113-4529-84DD-A6CED7CE4AE9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4D692-DBA2-059D-CA64-F2D2AB3F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5777-0BA3-166A-68CA-6F0B7CB8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0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C0D0B-8C05-65DB-EC7F-5AF56370D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9C8E6-3B51-42A7-3BF3-6DE4E2A2D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AB5DC-0975-F163-5125-1995C3D1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ACD5-978C-40E9-B8E2-67154372676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D201E-EFA0-5391-68BB-59C567BC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7F742-8C82-2DB4-05D6-84E73A65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EA18D-5AA3-3840-A0FE-1FEF7003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6EFC-11B0-7C15-DB4A-C5033E5E7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534A-CE5C-E33F-793B-CDC40DBC1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2664C-E6FD-4A10-8A05-33EAF417AA8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AF045-5E4C-D64D-752B-91DDFFB0A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48019-CF00-9355-74E4-1565FE11D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9232-534B-47C3-8DC7-3199DAA4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3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BCC2-88EC-8337-4592-CE636BA8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3512"/>
            <a:ext cx="9144000" cy="41388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STOCK MARKET FORECASTING USING LSTM AND ARIMA MODEL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79B09-FB7A-A7A2-9A1C-98681C3CA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39" y="4562375"/>
            <a:ext cx="10617201" cy="1813342"/>
          </a:xfrm>
        </p:spPr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 members:</a:t>
            </a:r>
          </a:p>
          <a:p>
            <a:pPr marL="1216660" marR="1210945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Anish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Acharaya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[21075396]</a:t>
            </a:r>
          </a:p>
          <a:p>
            <a:pPr marL="1216660" marR="1210945" algn="ctr">
              <a:spcBef>
                <a:spcPts val="0"/>
              </a:spcBef>
              <a:spcAft>
                <a:spcPts val="0"/>
              </a:spcAft>
            </a:pPr>
            <a:r>
              <a:rPr lang="en-US" sz="1800" spc="-4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                </a:t>
            </a:r>
            <a:r>
              <a:rPr lang="en-US" sz="1800" spc="-45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Bhuwan</a:t>
            </a:r>
            <a:r>
              <a:rPr lang="en-US" sz="1800" spc="-4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-45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Parsad</a:t>
            </a:r>
            <a:r>
              <a:rPr lang="en-US" sz="1800" spc="-4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Joshi </a:t>
            </a:r>
            <a:r>
              <a:rPr lang="en-US" sz="1800" spc="-4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	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[21075406]</a:t>
            </a:r>
          </a:p>
          <a:p>
            <a:pPr marL="1216660" marR="1210945">
              <a:spcBef>
                <a:spcPts val="0"/>
              </a:spcBef>
            </a:pPr>
            <a:r>
              <a:rPr lang="en-US" sz="1800" spc="-4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US" sz="1800" spc="-45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Chetan</a:t>
            </a:r>
            <a:r>
              <a:rPr lang="en-US" sz="1800" spc="-4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-45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Babu</a:t>
            </a:r>
            <a:r>
              <a:rPr lang="en-US" sz="1800" spc="-4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Bhat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[21075409]</a:t>
            </a:r>
          </a:p>
          <a:p>
            <a:pPr marL="1216660" marR="1210945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               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Pradeept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Jarur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Shahi 	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[21075421]</a:t>
            </a:r>
          </a:p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2217F6-27AF-63E9-1A3E-7EAEA46CA4C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12160" y="644017"/>
            <a:ext cx="1688465" cy="18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12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6B28-DA2A-78B9-1283-44C95CC5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6909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2E196-19D1-2902-991D-C9C2EB8B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034"/>
            <a:ext cx="10515600" cy="494492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Literature Review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Methodology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and conclusion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0506B-5B5A-B100-89CE-989B66C0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6817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9859-4D1B-AEBE-E8B5-E250F555E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288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FA31B-74E0-C631-582D-1B2715B2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67810" y="1679491"/>
            <a:ext cx="1088599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Nepal’s stock market is highly unpredictable due to political and external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Stock trend prediction is crucial for investors and decision-makers.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Large data sets make manual analysis challenging.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Predictive models like ARIMA help analyze trends and improve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53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5462-3D24-1D12-97C7-AEA1D6E8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391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B85CA-63E8-A097-A101-4FB654DF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12932"/>
            <a:ext cx="1021209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Nepal’s stock market is volatile, making trend prediction difficult.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Investors struggle to determine the right time to buy or sell stocks.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analysis is challenging due to the vast amount of market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reliable predictive model is needed to analyze trends and improve investment decisions.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38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6803-6EE5-30E3-0B29-5C335BF2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E187-72B4-909E-8E4D-2F62C3DBB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949" y="1476662"/>
            <a:ext cx="10979257" cy="3597050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 Study and Compare LSTM and ARIMA models for Stocks Forecasting in Nepal’s Context.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A45F2-05F3-B4D7-18DD-E0EF7EBF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6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D375-D823-9086-18EB-6AB316E8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3911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23BE-A8D4-A9AE-2CA5-F5C132B3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208313"/>
            <a:ext cx="10515600" cy="578031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Deep learning algorithms are more efficient than traditional predictors for financial forecasting, handling correlations and overfitting issues effectively.                                                </a:t>
            </a:r>
          </a:p>
          <a:p>
            <a:pPr marL="0" indent="0" algn="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J.B. Heaton et al  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ARIMA model, evaluated using AIC and MAE, shows minimal accuracy variation with dataset changes, while LSTM is proven effective for time series prediction.</a:t>
            </a:r>
          </a:p>
          <a:p>
            <a:pPr marL="0" indent="0" algn="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Mondale et al</a:t>
            </a:r>
          </a:p>
          <a:p>
            <a:pPr marL="0" indent="0" algn="r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LSTM learns stock price patterns effectively, achieving lower MAE and RMSE values, and the sliding window technique improves results.</a:t>
            </a:r>
          </a:p>
          <a:p>
            <a:pPr marL="0" indent="0" algn="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Hengijian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et al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LSTM outperforms ARIMA by a large margin (84-87%) and shows no significant improvement with increased iterations.</a:t>
            </a:r>
          </a:p>
          <a:p>
            <a:pPr marL="0" indent="0" algn="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Siami-Namini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LSTM-based models, using one-week prior data, provide the most accurate predictions for the NIFTY 50 index.</a:t>
            </a:r>
          </a:p>
          <a:p>
            <a:pPr marL="0" indent="0" algn="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Mehtab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DA911-730D-A24A-3374-D62587F3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5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9936-3EB5-5F7D-322A-1DF9BC5D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66" y="365126"/>
            <a:ext cx="10515600" cy="828408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Methodology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8D445-9596-7307-3FB5-67C89749F00B}"/>
              </a:ext>
            </a:extLst>
          </p:cNvPr>
          <p:cNvSpPr txBox="1"/>
          <p:nvPr/>
        </p:nvSpPr>
        <p:spPr>
          <a:xfrm>
            <a:off x="859466" y="1193534"/>
            <a:ext cx="10733266" cy="1043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Stock data for Nabil Bank Limited (NABIL) was manually collected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NepseAlpha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covering March 20, 2011 – Dec 5, 2024, including date, symbol, open, high, low, close, and volume.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'Date' and 'Close' columns were selected,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MinMaxScaler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normalized closing prices, and data was split into 85% training and 15% testing.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LSTM Model Architecture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LSTM was used with a batch size of 32, 200 epochs with 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EarlyStopping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Callback, and RMSE to evaluate prediction accuracy based on 60-day sequences.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ARIMA Model Architecture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ARIMA was employed with parameters p, d, and q to forecast stock prices based on past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RMSE, MSE, MAPE, and Residual Analysis were used to evaluate model performance.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47ABF-D9EB-D771-3046-8966EE2F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8880C-33CA-1E2D-9A00-F2065435F5F0}"/>
              </a:ext>
            </a:extLst>
          </p:cNvPr>
          <p:cNvSpPr txBox="1"/>
          <p:nvPr/>
        </p:nvSpPr>
        <p:spPr>
          <a:xfrm>
            <a:off x="873505" y="676656"/>
            <a:ext cx="50807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System diagram: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86FAC-BF88-5B2D-1938-E711DF61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b="1" u="sng" smtClean="0"/>
              <a:t>8</a:t>
            </a:fld>
            <a:endParaRPr lang="en-US" b="1" u="sng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36" y="2044138"/>
            <a:ext cx="9877511" cy="3697984"/>
          </a:xfrm>
        </p:spPr>
      </p:pic>
    </p:spTree>
    <p:extLst>
      <p:ext uri="{BB962C8B-B14F-4D97-AF65-F5344CB8AC3E}">
        <p14:creationId xmlns:p14="http://schemas.microsoft.com/office/powerpoint/2010/main" val="9026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886C-7DBC-0A12-E853-B0C4E77C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D4DB-1778-3C39-2D8F-3995BAD4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FE00B1-EF3A-B0CA-97DB-7FF790452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8939" y="3918172"/>
            <a:ext cx="100601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Evaluation Metrics on ARIMA and LSTM Models.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790791"/>
              </p:ext>
            </p:extLst>
          </p:nvPr>
        </p:nvGraphicFramePr>
        <p:xfrm>
          <a:off x="2009228" y="4349060"/>
          <a:ext cx="8855084" cy="1968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185">
                  <a:extLst>
                    <a:ext uri="{9D8B030D-6E8A-4147-A177-3AD203B41FA5}">
                      <a16:colId xmlns:a16="http://schemas.microsoft.com/office/drawing/2014/main" val="1690054682"/>
                    </a:ext>
                  </a:extLst>
                </a:gridCol>
                <a:gridCol w="2243187">
                  <a:extLst>
                    <a:ext uri="{9D8B030D-6E8A-4147-A177-3AD203B41FA5}">
                      <a16:colId xmlns:a16="http://schemas.microsoft.com/office/drawing/2014/main" val="2543845434"/>
                    </a:ext>
                  </a:extLst>
                </a:gridCol>
                <a:gridCol w="2307712">
                  <a:extLst>
                    <a:ext uri="{9D8B030D-6E8A-4147-A177-3AD203B41FA5}">
                      <a16:colId xmlns:a16="http://schemas.microsoft.com/office/drawing/2014/main" val="2983695079"/>
                    </a:ext>
                  </a:extLst>
                </a:gridCol>
              </a:tblGrid>
              <a:tr h="487131"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ARIMA</a:t>
                      </a:r>
                      <a:r>
                        <a:rPr lang="en-US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Model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LSTM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32086"/>
                  </a:ext>
                </a:extLst>
              </a:tr>
              <a:tr h="49389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3675.90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136.424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015298"/>
                  </a:ext>
                </a:extLst>
              </a:tr>
              <a:tr h="49389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Root Mean Squared 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69041"/>
                  </a:ext>
                </a:extLst>
              </a:tr>
              <a:tr h="49389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r>
                        <a:rPr lang="en-US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Prediction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32559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200" y="1036644"/>
            <a:ext cx="10708037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LSTM has lower RMSE (11.68) and higher accuracy (98.75%) compared to ARIMA (RMSE 43.63, accuracy 92.25%).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ARIMA’s residuals fluctuate widely, while LSTM’s remain more stable and closer to zero.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ARIMA predicts a steady decline below 500 but struggles with sudden market changes.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LSTM closely follows historical trends and adapts better to stock price movements.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Overall, LSTM is the superior model for accurate and realistic stock price prediction. </a:t>
            </a:r>
          </a:p>
        </p:txBody>
      </p:sp>
    </p:spTree>
    <p:extLst>
      <p:ext uri="{BB962C8B-B14F-4D97-AF65-F5344CB8AC3E}">
        <p14:creationId xmlns:p14="http://schemas.microsoft.com/office/powerpoint/2010/main" val="409658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F842C-C3C8-7EBC-AD65-1C412D9C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8B0C-3556-5ECD-8223-4D9A3F17B96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6748" y="353501"/>
            <a:ext cx="4473575" cy="6985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Forecasting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48" y="1708600"/>
            <a:ext cx="6079188" cy="34339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936" y="1621348"/>
            <a:ext cx="5178748" cy="36588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6419" y="5448944"/>
            <a:ext cx="444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Fig: ARIMA vs LSTM</a:t>
            </a:r>
          </a:p>
        </p:txBody>
      </p:sp>
    </p:spTree>
    <p:extLst>
      <p:ext uri="{BB962C8B-B14F-4D97-AF65-F5344CB8AC3E}">
        <p14:creationId xmlns:p14="http://schemas.microsoft.com/office/powerpoint/2010/main" val="251376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840794" cy="114904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Residual Analysis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514168"/>
            <a:ext cx="3075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ARIMA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83500"/>
            <a:ext cx="11080611" cy="372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5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691534" y="351976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LSTM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92" y="416125"/>
            <a:ext cx="7479310" cy="44892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25" y="3651706"/>
            <a:ext cx="5854771" cy="303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7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af-ZA" dirty="0">
                <a:latin typeface="Arial" panose="020B0604020202020204" pitchFamily="34" charset="0"/>
                <a:cs typeface="Arial" panose="020B0604020202020204" pitchFamily="34" charset="0"/>
              </a:rPr>
              <a:t>Future extensions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188843" cy="381663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LSTM + ARIMA model.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data like trading volume or market news.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on other stocks for broader insights.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207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0DD0-AF75-E6D9-E330-38440ECD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84D6E-0ACA-7D01-E3AF-B88EC983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882546"/>
              </p:ext>
            </p:extLst>
          </p:nvPr>
        </p:nvGraphicFramePr>
        <p:xfrm>
          <a:off x="838200" y="1268144"/>
          <a:ext cx="10785529" cy="5130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[1] </a:t>
                      </a:r>
                      <a:endParaRPr lang="en-US" sz="18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Deshmukh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Yogita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Saratkar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Deepmala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Tiwari,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Yash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(2019). Stock Market Prediction Using Machine Learning. IJARCCE. 8. 31-35. 10.17148/IJARCCE.2019.8107.".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[2]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Adebiyi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Ayodele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Adewumi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Aderemi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Ayo, Charles. (2014). Stock price prediction using the ARIMA model. Proceedings -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UKSim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-AMSS 16th International Conference on Computer Modelling and Simulation,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UKSim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2014. 10.1109/UKSim.2014.67.".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[3] </a:t>
                      </a:r>
                      <a:endParaRPr lang="en-US" sz="18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"Heaton, J. B., Polson, N. G., and Witte, J. H. (2017) Deep learning for finance: deep portfolios. Appl. Stochastic Models Bus. Ind., 33: 3–12. </a:t>
                      </a:r>
                      <a:r>
                        <a:rPr lang="en-US" sz="1800" b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doi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10.1002/asmb.2209.".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af-ZA" sz="18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[4]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Siami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Namini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Sima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Siami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Namin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Akbar. (2018). “Forecasting Economics and Financial Time Series: ARIMA vs. LSTM.” https://doi.org/10.48550/arXiv.1803.06386.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2121276"/>
                  </a:ext>
                </a:extLst>
              </a:tr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af-ZA" sz="18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[5]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Mondal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Prapanna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Shit,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Labani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Goswami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Saptarsi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(2014). “Study of Effectiveness of Time Series Modeling (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Arima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in Forecasting Stock Prices”. International Journal of Computer Science, Engineering and Applications. 4. 13-29. https://doi.org/10.5121/ijcsea.2014.4202.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030334063"/>
                  </a:ext>
                </a:extLst>
              </a:tr>
              <a:tr h="8131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af-ZA" sz="18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[6]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Mehtab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Sidra &amp; Sen, </a:t>
                      </a:r>
                      <a:r>
                        <a:rPr lang="en-US" sz="18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Jaydip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Dutta, Abhishek. (2020). “Stock Price Prediction Using Machine Learning and LSTM-Based Deep Learning Models”. https://doi.org/10.36227/techrxiv.15103602. 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76087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18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B580-D54A-6E64-28D1-33431C8ED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936" y="2119745"/>
            <a:ext cx="8995064" cy="139021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16D72-3E7D-EB79-FF44-A3C65157D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We’re now open to queries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B78DC-7F69-A34B-424F-0B3578F4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9232-534B-47C3-8DC7-3199DAA4393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8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943</Words>
  <Application>Microsoft Office PowerPoint</Application>
  <PresentationFormat>Widescreen</PresentationFormat>
  <Paragraphs>128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STOCK MARKET FORECASTING USING LSTM AND ARIMA MODEL  </vt:lpstr>
      <vt:lpstr>Contents</vt:lpstr>
      <vt:lpstr>Introduction</vt:lpstr>
      <vt:lpstr>Problem statement</vt:lpstr>
      <vt:lpstr>Objective </vt:lpstr>
      <vt:lpstr>Literature Review </vt:lpstr>
      <vt:lpstr>Methodology </vt:lpstr>
      <vt:lpstr>PowerPoint Presentation</vt:lpstr>
      <vt:lpstr>Result</vt:lpstr>
      <vt:lpstr>PowerPoint Presentation</vt:lpstr>
      <vt:lpstr>Residual Analysis</vt:lpstr>
      <vt:lpstr>PowerPoint Presentation</vt:lpstr>
      <vt:lpstr>Future extensions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NEPALI  TWEETS ON MOVING ABROAD </dc:title>
  <dc:creator>anshu bhandari</dc:creator>
  <cp:lastModifiedBy>BBhuwan Joshi</cp:lastModifiedBy>
  <cp:revision>129</cp:revision>
  <dcterms:created xsi:type="dcterms:W3CDTF">2024-09-24T04:53:31Z</dcterms:created>
  <dcterms:modified xsi:type="dcterms:W3CDTF">2025-02-25T02:34:18Z</dcterms:modified>
</cp:coreProperties>
</file>