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9" r:id="rId2"/>
    <p:sldId id="257" r:id="rId3"/>
    <p:sldId id="264" r:id="rId4"/>
    <p:sldId id="258" r:id="rId5"/>
    <p:sldId id="260" r:id="rId6"/>
    <p:sldId id="259" r:id="rId7"/>
    <p:sldId id="261" r:id="rId8"/>
    <p:sldId id="270" r:id="rId9"/>
    <p:sldId id="266" r:id="rId10"/>
    <p:sldId id="265" r:id="rId11"/>
    <p:sldId id="272" r:id="rId12"/>
    <p:sldId id="262" r:id="rId13"/>
    <p:sldId id="263" r:id="rId14"/>
    <p:sldId id="271" r:id="rId15"/>
    <p:sldId id="27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43" y="6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25D9E-319D-4E54-9558-34AD4490D128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00C95-9CA9-44E9-87C8-C1E749133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48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889a89e8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889a89e80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2f889a89e80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87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80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8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2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6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0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2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0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0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3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5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2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1E877-83AF-4415-9FED-DDDBC0412AD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A2A87-153E-466A-BD09-F87F7601D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8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5121/ijcsea.2014.4202" TargetMode="External"/><Relationship Id="rId2" Type="http://schemas.openxmlformats.org/officeDocument/2006/relationships/hyperlink" Target="https://scholar.google.com/scholar_lookup?title=Deep%20learning%20for%20finance:%20deep%20portfolios&amp;publication_year=2017&amp;author=J.B.%20Heaton&amp;author=N.G.%20Polson&amp;author=J.H.%20Witt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procs.2018.05.050" TargetMode="External"/><Relationship Id="rId4" Type="http://schemas.openxmlformats.org/officeDocument/2006/relationships/hyperlink" Target="https://doi.org/10.1109/BigData47090.2019.90059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87866" y="445836"/>
            <a:ext cx="8279423" cy="152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Minor Project on</a:t>
            </a:r>
            <a:br>
              <a:rPr lang="en-US" sz="32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</a:br>
            <a:r>
              <a:rPr lang="en-US" sz="32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Stock Market Analysis and Forecasting</a:t>
            </a:r>
            <a:endParaRPr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151791" y="3854141"/>
            <a:ext cx="10691446" cy="27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1800" b="1" i="0" u="sng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Submitted by: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                                                                     </a:t>
            </a:r>
            <a:r>
              <a:rPr lang="en-US" sz="1800" b="1" i="0" u="sng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Submitted to: 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Anish Acharya  		[</a:t>
            </a:r>
            <a:r>
              <a:rPr lang="en-US" sz="1600" b="0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21075396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]                                Department of Computer and IT Engineering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Bhuwan Prasad Joshi 	[</a:t>
            </a:r>
            <a:r>
              <a:rPr lang="en-US" sz="1600" b="0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21075406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]                                Everest Engineering College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Chetan Babu Bhat 	[</a:t>
            </a:r>
            <a:r>
              <a:rPr lang="en-US" sz="1600" b="0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21075409 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]                               Affiliated to Pokhara University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Pradeept Jarur Shahi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 	[</a:t>
            </a:r>
            <a:r>
              <a:rPr lang="en-US" sz="1600" b="0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21075420 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]                              Sanepa-2, </a:t>
            </a:r>
            <a:r>
              <a:rPr lang="en-US" sz="1800" strike="noStrike" cap="none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Lalitpur</a:t>
            </a:r>
            <a: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.</a:t>
            </a:r>
            <a:br>
              <a:rPr lang="en-US" sz="1800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</a:b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</a:t>
            </a:r>
            <a:r>
              <a:rPr lang="en-US" sz="18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25/09/2024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7639" y="2107891"/>
            <a:ext cx="1539875" cy="17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717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47438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Introduction/Background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Statement of Problem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51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Introduction/Background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9597"/>
            <a:ext cx="5482389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stock market plays a crucial role in the global economy.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Stock market offers investment opportunities and financial growth for investors.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Predicting stock prices is a complex task due to their highly dynamic and volatile nature.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Machine Learning models, especially deep learning frameworks like LSTM, can process large datasets and identify patterns.</a:t>
            </a:r>
          </a:p>
        </p:txBody>
      </p:sp>
    </p:spTree>
    <p:extLst>
      <p:ext uri="{BB962C8B-B14F-4D97-AF65-F5344CB8AC3E}">
        <p14:creationId xmlns:p14="http://schemas.microsoft.com/office/powerpoint/2010/main" val="103497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754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Statement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667"/>
            <a:ext cx="5799992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Stock market is influenced by various factors:</a:t>
            </a:r>
          </a:p>
          <a:p>
            <a:pPr lvl="1"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Political events,</a:t>
            </a:r>
          </a:p>
          <a:p>
            <a:pPr lvl="1"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sentiment,</a:t>
            </a:r>
          </a:p>
          <a:p>
            <a:pPr lvl="1"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Inflation,</a:t>
            </a:r>
          </a:p>
          <a:p>
            <a:pPr lvl="1"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manipulation, etc.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Traditional approaches often prioritize accuracy but overlook profitability and risk management.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Predicting stock prices demands models capable of handling noise, volatility, and dynamic trends.</a:t>
            </a:r>
          </a:p>
        </p:txBody>
      </p:sp>
    </p:spTree>
    <p:extLst>
      <p:ext uri="{BB962C8B-B14F-4D97-AF65-F5344CB8AC3E}">
        <p14:creationId xmlns:p14="http://schemas.microsoft.com/office/powerpoint/2010/main" val="395603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58853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Forecast Nepal’s stock market trends using LSTM model.</a:t>
            </a:r>
          </a:p>
        </p:txBody>
      </p:sp>
    </p:spTree>
    <p:extLst>
      <p:ext uri="{BB962C8B-B14F-4D97-AF65-F5344CB8AC3E}">
        <p14:creationId xmlns:p14="http://schemas.microsoft.com/office/powerpoint/2010/main" val="324036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10137" cy="423829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Deep Learning for Finance: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J.B. Heaton et.al  </a:t>
            </a:r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explored the use of deep learning in financial predictions. Deep learning models handle complex correlations better than traditional predictors.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ARIMA Model for Stock Prices: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Mondal et.al </a:t>
            </a:r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evaluated the effectiveness of ARIMA for stock price prediction. ARIMA provides reasonable accuracy but is less effective compared to advanced models like LSTM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LSTM and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BiLSTM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for Time-Series Forecasting: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Sima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Siami-Namini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demonstrated that LSTM significantly outperforms ARIMA. LSTM achieves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84%-87%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better accuracy due to its ability to learn from sequential data.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Hybrid models (CNN, RNN):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Hiransha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showed hybrid architectures can outperform standalone models. Combining methods like RNN and CNN improves trend detection and prediction accuracy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28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09583"/>
            <a:ext cx="5632937" cy="438267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Collect historical stock price data.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Preprocess data for training and testing.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 a LSTM model to predict future prices.</a:t>
            </a:r>
          </a:p>
          <a:p>
            <a:pPr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 and Preprocessing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ShareSansar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(10+ years of historical data).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Filer data to include closing prices only.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Normalize data using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MinMaxScaler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Split data into training (80%) and testing (20%).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60-day sequences for LSTM input. </a:t>
            </a:r>
          </a:p>
        </p:txBody>
      </p:sp>
      <p:pic>
        <p:nvPicPr>
          <p:cNvPr id="4" name="Google Shape;17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56682" y="2437169"/>
            <a:ext cx="5835318" cy="3127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789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73752"/>
            <a:ext cx="561535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Why Long Short-Term Memory (LSTM)?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specifically designed for time-series data, making it ideal for stock price prediction.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can effectively capture long-term dependencies and patterns in sequential data such as stock market data.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can easily handle noisy and volatile data which is very common in stock market datasets.</a:t>
            </a:r>
          </a:p>
        </p:txBody>
      </p:sp>
      <p:pic>
        <p:nvPicPr>
          <p:cNvPr id="4" name="Google Shape;17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2009" y="1878711"/>
            <a:ext cx="5738445" cy="3127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219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889a89e80_0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 Development Life Cycle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g2f889a89e80_0_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446075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Iterative Model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Phased Approach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Feedback Loops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Risk Management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Google Shape;183;g2f889a89e80_0_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84" name="Google Shape;184;g2f889a89e80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275" y="1499603"/>
            <a:ext cx="6196300" cy="462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04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22985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Programming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Laguage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Libraries: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Pandas,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Scikit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-learn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Development: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Notebook, Google Collab</a:t>
            </a:r>
          </a:p>
        </p:txBody>
      </p:sp>
    </p:spTree>
    <p:extLst>
      <p:ext uri="{BB962C8B-B14F-4D97-AF65-F5344CB8AC3E}">
        <p14:creationId xmlns:p14="http://schemas.microsoft.com/office/powerpoint/2010/main" val="278700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title"/>
          </p:nvPr>
        </p:nvSpPr>
        <p:spPr>
          <a:xfrm>
            <a:off x="838200" y="4102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Evaluation/Testing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Google Shape;205;p19"/>
          <p:cNvSpPr txBox="1">
            <a:spLocks noGrp="1"/>
          </p:cNvSpPr>
          <p:nvPr>
            <p:ph type="body" idx="1"/>
          </p:nvPr>
        </p:nvSpPr>
        <p:spPr>
          <a:xfrm>
            <a:off x="838201" y="1825624"/>
            <a:ext cx="5518638" cy="423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Mean Squared Error (MSE):</a:t>
            </a:r>
          </a:p>
          <a:p>
            <a:pPr marL="228600" lvl="0" indent="-50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MSE measures the average of the squared differences between the predicted and actual values.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Minimize the MSE to improve the accuracy of predictions.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Interpretation: Lower MSE indicates better model performance.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Google Shape;20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07" name="Google Shape;2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698" y="3130061"/>
            <a:ext cx="2622786" cy="68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01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5573"/>
            <a:ext cx="4955931" cy="80425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Work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881"/>
            <a:ext cx="4806462" cy="1608992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collection and preprocessing.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Developed an LSTM model with stacked layers and dropout for regularization.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Trained the model with historical stock data.</a:t>
            </a:r>
          </a:p>
        </p:txBody>
      </p:sp>
      <p:pic>
        <p:nvPicPr>
          <p:cNvPr id="4098" name="Picture 2" descr="viber_image_2024-12-26_16-52-03-9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075" y="2921611"/>
            <a:ext cx="7485175" cy="3690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67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Challenges Faced: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158154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Resolved graph axis issues by converting data types.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040" y="2375939"/>
            <a:ext cx="4096629" cy="380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21165" y="6155349"/>
            <a:ext cx="1550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Problem 1</a:t>
            </a:r>
          </a:p>
        </p:txBody>
      </p:sp>
    </p:spTree>
    <p:extLst>
      <p:ext uri="{BB962C8B-B14F-4D97-AF65-F5344CB8AC3E}">
        <p14:creationId xmlns:p14="http://schemas.microsoft.com/office/powerpoint/2010/main" val="2890549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Work Remaining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22985" cy="43513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 and test data and plot the output.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Forecast the data of 30 days in the future and plot the output.</a:t>
            </a:r>
          </a:p>
        </p:txBody>
      </p:sp>
    </p:spTree>
    <p:extLst>
      <p:ext uri="{BB962C8B-B14F-4D97-AF65-F5344CB8AC3E}">
        <p14:creationId xmlns:p14="http://schemas.microsoft.com/office/powerpoint/2010/main" val="3873543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</a:p>
        </p:txBody>
      </p:sp>
      <p:pic>
        <p:nvPicPr>
          <p:cNvPr id="5" name="Google Shape;190;p17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10277" y="1424354"/>
            <a:ext cx="6971446" cy="50643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68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6749562" cy="121749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References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394801"/>
            <a:ext cx="6433038" cy="52609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[1] “Heaton J.B., Polson N.G., Witte J.H. Deep learning for finance: deep portfolios”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Applied Stochastic Models in Business and Industry, 33 (1) (2017), pp. 3-12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https://scholar.google.com/scholar_lookup?title=Deep%20learning%20for%20finance%3A%20deep%20portfolios&amp;publication_year=2017&amp;author=J.B.%20Heaton&amp;author=N.G.%20Polson&amp;author=J.H.%20Witte</a:t>
            </a:r>
            <a:endParaRPr lang="en-GB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Mondal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Prapanna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&amp; Shit,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Labani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Goswami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Saptarsi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. (2014).  “Study of Effectiveness of Time Series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Arima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 in Forecasting Stock Prices”. International Journal of Computer Science, Engineering and Applications. 4. 13-29.</a:t>
            </a: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http://dx.doi.org/10.5121/ijcsea.2014.4202</a:t>
            </a:r>
            <a:endParaRPr lang="en-GB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Siami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Namini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Siami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Namin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Akbar. (2018). “Forecasting Economics and Financial Time Series: ARIMA vs. LSTM”.</a:t>
            </a:r>
          </a:p>
          <a:p>
            <a:pPr marL="0" indent="0" algn="just">
              <a:buNone/>
            </a:pP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https://doi.org/10.1109/BigData47090.2019.9005997</a:t>
            </a:r>
            <a:endParaRPr lang="en-GB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[4]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Hiransha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Gopalakrishnan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E.A., Vijay Krishna Menon,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Soman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K.P.,NSE “Stock Market Prediction Using Deep-Learning Models, Procedia Computer Science”, Volume 132, 2018, Pages 1351-1362, ISSN 1877-0509,</a:t>
            </a:r>
          </a:p>
          <a:p>
            <a:pPr marL="0" indent="0" algn="just">
              <a:buNone/>
            </a:pP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https://doi.org/10.1016/j.procs.2018.05.050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78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889</Words>
  <Application>Microsoft Office PowerPoint</Application>
  <PresentationFormat>Widescreen</PresentationFormat>
  <Paragraphs>101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Minor Project on Stock Market Analysis and Forecasting</vt:lpstr>
      <vt:lpstr>Contents</vt:lpstr>
      <vt:lpstr>Introduction/Background</vt:lpstr>
      <vt:lpstr>Statement of Problem</vt:lpstr>
      <vt:lpstr>Objective</vt:lpstr>
      <vt:lpstr>Literature review</vt:lpstr>
      <vt:lpstr>Methodology</vt:lpstr>
      <vt:lpstr>Algorithm</vt:lpstr>
      <vt:lpstr>System Development Life Cycle</vt:lpstr>
      <vt:lpstr>Tools used:</vt:lpstr>
      <vt:lpstr>Evaluation/Testing</vt:lpstr>
      <vt:lpstr>Work completed</vt:lpstr>
      <vt:lpstr>Challenges Faced:</vt:lpstr>
      <vt:lpstr>Work Remaining</vt:lpstr>
      <vt:lpstr>Schedule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ANALYSIS AND PREDICTION</dc:title>
  <dc:creator>Pradeept Jarur Shahi</dc:creator>
  <cp:lastModifiedBy>BBhuwan Joshi</cp:lastModifiedBy>
  <cp:revision>24</cp:revision>
  <dcterms:created xsi:type="dcterms:W3CDTF">2024-12-26T14:04:25Z</dcterms:created>
  <dcterms:modified xsi:type="dcterms:W3CDTF">2024-12-27T01:57:35Z</dcterms:modified>
</cp:coreProperties>
</file>