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L+0sI66EvJP12jcrqFfV15oCZ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Simplify hiring: Quickly identify suitable candidates.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Rank resumes: Highlight resumes that best match the job requirements</a:t>
            </a:r>
            <a:endParaRPr/>
          </a:p>
        </p:txBody>
      </p:sp>
      <p:sp>
        <p:nvSpPr>
          <p:cNvPr id="117" name="Google Shape;11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f889a89e8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f889a89e80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2f889a89e80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m/scholar_lookup?title=Deep%20learning%20for%20finance%3A%20deep%20portfolios&amp;publication_year=2017&amp;author=J.B.%20Heaton&amp;author=N.G.%20Polson&amp;author=J.H.%20Witt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5121/ijcsea.2014.4202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BigData47090.2019.9005997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procs.2018.05.050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36227/techrxiv.1510360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matpr.2020.11.399" TargetMode="External"/><Relationship Id="rId7" Type="http://schemas.openxmlformats.org/officeDocument/2006/relationships/hyperlink" Target="https://doi.org/10.1109/BigData47090.2019.9005997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dx.doi.org/10.5121/ijcsea.2014.4202" TargetMode="External"/><Relationship Id="rId5" Type="http://schemas.openxmlformats.org/officeDocument/2006/relationships/hyperlink" Target="https://doi.org/10.1007/s10462-019-09754-z" TargetMode="External"/><Relationship Id="rId4" Type="http://schemas.openxmlformats.org/officeDocument/2006/relationships/hyperlink" Target="https://doi.org/10.1016/j.eswa.2016.02.006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1524000" y="253650"/>
            <a:ext cx="8279423" cy="1275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Minor Project on</a:t>
            </a:r>
            <a:b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Stock Market Analysis and Forecasting</a:t>
            </a: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257300" y="3651918"/>
            <a:ext cx="10691446" cy="32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sng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</a:t>
            </a:r>
            <a:r>
              <a:rPr lang="en-US" sz="2000" b="0" i="0" u="sng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to: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Anish Acharya  		[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21075396</a:t>
            </a:r>
            <a:r>
              <a:rPr lang="en-US" sz="2000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                               Department of Computer and IT Engineering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Bhuwan Prasad Joshi 	[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21075406</a:t>
            </a:r>
            <a:r>
              <a:rPr lang="en-US" sz="2000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                               Everest Engineering College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Chetan Babu Bhat 	[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21075409</a:t>
            </a:r>
            <a:r>
              <a:rPr lang="en-US" sz="2000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                              Affiliated to Pokhara University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Pradeept Jarur Shahi</a:t>
            </a:r>
            <a:r>
              <a:rPr lang="en-US" sz="2000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	[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21075421</a:t>
            </a:r>
            <a:r>
              <a:rPr lang="en-US" sz="2000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                              Sanepa-2, Lalitpur.</a:t>
            </a:r>
            <a:endParaRPr dirty="0"/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                                            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                                                                 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25/09/2024</a:t>
            </a:r>
            <a:endParaRPr dirty="0"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7641" y="1905668"/>
            <a:ext cx="1539875" cy="174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838200" y="70340"/>
            <a:ext cx="10515600" cy="597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697523" y="773724"/>
            <a:ext cx="10515600" cy="5947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Statement of problem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Project Schedule and Budget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Expected Outcomes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Evaluation/Testing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99" name="Google Shape;9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Introduction/Background</a:t>
            </a:r>
            <a:b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Large Public Participation in Stock Market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Fundamental and Technical Analysis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Automated Analysis &amp; Machine Learning</a:t>
            </a:r>
            <a:endParaRPr sz="2400"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Market Forecasting and Profitability</a:t>
            </a:r>
            <a:endParaRPr sz="24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Statement of Problem</a:t>
            </a:r>
            <a:endParaRPr/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Loss in the Stock Market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Technical Analysis and Fundamental Analysis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Time Consuming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Develop a Predictive Model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Analyse Stock Market Trends</a:t>
            </a:r>
            <a:endParaRPr sz="2400"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Improve Forecasting Accuracy</a:t>
            </a:r>
            <a:endParaRPr sz="2400"/>
          </a:p>
        </p:txBody>
      </p:sp>
      <p:sp>
        <p:nvSpPr>
          <p:cNvPr id="121" name="Google Shape;12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title"/>
          </p:nvPr>
        </p:nvSpPr>
        <p:spPr>
          <a:xfrm>
            <a:off x="838200" y="136525"/>
            <a:ext cx="10515600" cy="76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2800"/>
          </a:p>
        </p:txBody>
      </p:sp>
      <p:sp>
        <p:nvSpPr>
          <p:cNvPr id="127" name="Google Shape;127;p6"/>
          <p:cNvSpPr txBox="1">
            <a:spLocks noGrp="1"/>
          </p:cNvSpPr>
          <p:nvPr>
            <p:ph type="body" idx="1"/>
          </p:nvPr>
        </p:nvSpPr>
        <p:spPr>
          <a:xfrm>
            <a:off x="838200" y="905602"/>
            <a:ext cx="10515600" cy="57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600"/>
              <a:t>1)Deep Learning for Finance: Deep Portfolios</a:t>
            </a:r>
            <a:endParaRPr sz="2600"/>
          </a:p>
          <a:p>
            <a:pPr marL="22860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b="1"/>
              <a:t>Author:</a:t>
            </a:r>
            <a:r>
              <a:rPr lang="en-US" sz="2600"/>
              <a:t> J.B. Heaton</a:t>
            </a:r>
            <a:endParaRPr sz="2600"/>
          </a:p>
          <a:p>
            <a:pPr marL="228600" lvl="0" indent="-215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b="1"/>
              <a:t>Objective:</a:t>
            </a:r>
            <a:r>
              <a:rPr lang="en-US" sz="2600"/>
              <a:t> Automate the resume screening and matching process.</a:t>
            </a:r>
            <a:endParaRPr sz="2600"/>
          </a:p>
          <a:p>
            <a:pPr marL="228600" lvl="0" indent="-215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1"/>
              <a:t>Final findings: </a:t>
            </a:r>
            <a:r>
              <a:rPr lang="en-US" sz="2600">
                <a:highlight>
                  <a:srgbClr val="FFFFFF"/>
                </a:highlight>
              </a:rPr>
              <a:t>In particular, deep learning can detect and exploit interactions  in the data that are, at least currently, invisible to any existing financial economic theory.</a:t>
            </a:r>
            <a:endParaRPr sz="2600">
              <a:highlight>
                <a:srgbClr val="FFFFFF"/>
              </a:highlight>
            </a:endParaRPr>
          </a:p>
          <a:p>
            <a:pPr marL="228600" lvl="0" indent="-16510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highlight>
                  <a:srgbClr val="FFFFFF"/>
                </a:highlight>
              </a:rPr>
              <a:t>Citation: </a:t>
            </a:r>
            <a:r>
              <a:rPr lang="en-US" sz="14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https://scholar.google.com/scholar_lookup?title=Deep%20learning%20for%20finance%3A%20deep%20portfolios&amp;publication_year=2017&amp;author=J.B.%20Heaton&amp;author=N.G.%20Polson&amp;author=J.H.%20Witte</a:t>
            </a:r>
            <a:endParaRPr sz="1400">
              <a:highlight>
                <a:srgbClr val="FFFFFF"/>
              </a:highlight>
            </a:endParaRPr>
          </a:p>
          <a:p>
            <a:pPr marL="22860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28" name="Google Shape;12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/>
              <a:t>6</a:t>
            </a:fld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34" name="Google Shape;134;p7"/>
          <p:cNvSpPr txBox="1">
            <a:spLocks noGrp="1"/>
          </p:cNvSpPr>
          <p:nvPr>
            <p:ph type="body" idx="1"/>
          </p:nvPr>
        </p:nvSpPr>
        <p:spPr>
          <a:xfrm>
            <a:off x="855450" y="277450"/>
            <a:ext cx="10895400" cy="59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2) ARIMA Model for Forecasting Stock Prices</a:t>
            </a:r>
            <a:endParaRPr/>
          </a:p>
          <a:p>
            <a:pPr marL="228600" lvl="0" indent="-22860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b="1"/>
              <a:t>Author:</a:t>
            </a:r>
            <a:r>
              <a:rPr lang="en-US"/>
              <a:t> Mondale</a:t>
            </a:r>
            <a:endParaRPr/>
          </a:p>
          <a:p>
            <a:pPr marL="228600" lvl="0" indent="-22860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b="1"/>
              <a:t>Objective:</a:t>
            </a:r>
            <a:r>
              <a:rPr lang="en-US"/>
              <a:t> accounts for both autocorrelation and moving average elements within time series data</a:t>
            </a:r>
            <a:endParaRPr/>
          </a:p>
          <a:p>
            <a:pPr marL="228600" lvl="0" indent="-22860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Final Findings: 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Results obtained revealed that the ARIMA model has a strong potential for short-term prediction and can compete favourably with existing techniques for stock price prediction.</a:t>
            </a:r>
            <a:endParaRPr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28600" lvl="0" indent="-16510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Citation: </a:t>
            </a:r>
            <a:r>
              <a:rPr lang="en-US" u="sng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http://dx.doi.org/10.5121/ijcsea.2014.4202</a:t>
            </a:r>
            <a:endParaRPr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28600" lvl="0" indent="-16510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endParaRPr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>
            <a:spLocks noGrp="1"/>
          </p:cNvSpPr>
          <p:nvPr>
            <p:ph type="body" idx="1"/>
          </p:nvPr>
        </p:nvSpPr>
        <p:spPr>
          <a:xfrm>
            <a:off x="838200" y="509954"/>
            <a:ext cx="10515600" cy="566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3)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Performance of LSTM and BiLSTM in Forecasting Time Series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5714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Author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: Sima Siami-Namini</a:t>
            </a:r>
            <a:endParaRPr/>
          </a:p>
          <a:p>
            <a:pPr marL="228600" lvl="0" indent="-22733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: Automate the process of filtering resumes.</a:t>
            </a:r>
            <a:endParaRPr/>
          </a:p>
          <a:p>
            <a:pPr marL="228600" lvl="0" indent="-22733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Final Findings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/>
              <a:t> 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it was observed that BiLSTM models provide better predictions compared to ARIMA and LSTM models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Citation: </a:t>
            </a:r>
            <a:r>
              <a:rPr lang="en-US" sz="2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https://doi.org/10.1109/BigData47090.2019.9005997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140" name="Google Shape;14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>
            <a:spLocks noGrp="1"/>
          </p:cNvSpPr>
          <p:nvPr>
            <p:ph type="title"/>
          </p:nvPr>
        </p:nvSpPr>
        <p:spPr>
          <a:xfrm>
            <a:off x="823546" y="50006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br>
              <a:rPr lang="en-US" sz="2800"/>
            </a:b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4) NSE Stock Market Prediction Using Deep-Learning Models</a:t>
            </a:r>
            <a:endParaRPr sz="2800"/>
          </a:p>
        </p:txBody>
      </p:sp>
      <p:sp>
        <p:nvSpPr>
          <p:cNvPr id="146" name="Google Shape;146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54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Author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: Hiransha</a:t>
            </a:r>
            <a:endParaRPr/>
          </a:p>
          <a:p>
            <a:pPr marL="228600" lvl="0" indent="-2540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:  Determine a candidate’s qualification .</a:t>
            </a:r>
            <a:endParaRPr/>
          </a:p>
          <a:p>
            <a:pPr marL="228600" lvl="0" indent="-2540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Final Findings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/>
              <a:t> </a:t>
            </a:r>
            <a:r>
              <a:rPr lang="en-US">
                <a:solidFill>
                  <a:srgbClr val="1F1F1F"/>
                </a:solidFill>
                <a:latin typeface="Georgia"/>
                <a:ea typeface="Georgia"/>
                <a:cs typeface="Georgia"/>
                <a:sym typeface="Georgia"/>
              </a:rPr>
              <a:t>The results obtained were compared with ARIMA model and it has been observed that the neural networks are outperforming the existing linear model (ARIMA).</a:t>
            </a:r>
            <a:endParaRPr/>
          </a:p>
          <a:p>
            <a:pPr marL="571500" lvl="0" indent="-393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Citation: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https://doi.org/10.1016/j.procs.2018.05.050</a:t>
            </a:r>
            <a:endParaRPr/>
          </a:p>
          <a:p>
            <a:pPr marL="571500" lvl="0" indent="-393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/>
          </a:p>
        </p:txBody>
      </p:sp>
      <p:sp>
        <p:nvSpPr>
          <p:cNvPr id="147" name="Google Shape;14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5. Stock Price Prediction Using Machine Learning and LSTM-Based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Deep Learning Models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0"/>
          <p:cNvSpPr txBox="1">
            <a:spLocks noGrp="1"/>
          </p:cNvSpPr>
          <p:nvPr>
            <p:ph type="body" idx="1"/>
          </p:nvPr>
        </p:nvSpPr>
        <p:spPr>
          <a:xfrm>
            <a:off x="838200" y="1274885"/>
            <a:ext cx="10515600" cy="4902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57200" lvl="0" indent="-372744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2929" b="1"/>
              <a:t>Author:</a:t>
            </a:r>
            <a:r>
              <a:rPr lang="en-US" sz="2929"/>
              <a:t> S.Mehtab</a:t>
            </a:r>
            <a:endParaRPr sz="2929"/>
          </a:p>
          <a:p>
            <a:pPr marL="457200" lvl="0" indent="-36639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95594"/>
              <a:buChar char="●"/>
            </a:pPr>
            <a:r>
              <a:rPr lang="en-US" sz="2929" b="1"/>
              <a:t>Objective:</a:t>
            </a:r>
            <a:r>
              <a:rPr lang="en-US" sz="2929"/>
              <a:t> </a:t>
            </a:r>
            <a:r>
              <a:rPr lang="en-US" sz="3379">
                <a:solidFill>
                  <a:srgbClr val="474747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79">
                <a:solidFill>
                  <a:srgbClr val="040C28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analyze historical price data and past events to potentially predict future trends</a:t>
            </a:r>
            <a:r>
              <a:rPr lang="en-US" sz="3379">
                <a:solidFill>
                  <a:srgbClr val="474747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, considering long-term factors that might influence the price</a:t>
            </a:r>
            <a:endParaRPr sz="2929"/>
          </a:p>
          <a:p>
            <a:pPr marL="457200" lvl="0" indent="-372744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929" b="1"/>
              <a:t>Final Findings:</a:t>
            </a:r>
            <a:r>
              <a:rPr lang="en-US" sz="2929"/>
              <a:t> It has presented several approaches to prediction of stock index values its movement patterns on a weekly forecast horizon using eight machine learning, and four LSTM-based deep learning regression models</a:t>
            </a:r>
            <a:endParaRPr sz="2929"/>
          </a:p>
          <a:p>
            <a:pPr marL="457200" lvl="0" indent="-372744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929"/>
              <a:t>Citation:</a:t>
            </a:r>
            <a:r>
              <a:rPr lang="en-US" sz="2929" u="sng">
                <a:solidFill>
                  <a:schemeClr val="hlink"/>
                </a:solidFill>
                <a:hlinkClick r:id="rId3"/>
              </a:rPr>
              <a:t>http://dx.doi.org/10.36227/techrxiv.15103602</a:t>
            </a:r>
            <a:endParaRPr sz="2929"/>
          </a:p>
          <a:p>
            <a:pPr marL="68580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929"/>
          </a:p>
        </p:txBody>
      </p:sp>
      <p:sp>
        <p:nvSpPr>
          <p:cNvPr id="154" name="Google Shape;15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>
            <a:spLocks noGrp="1"/>
          </p:cNvSpPr>
          <p:nvPr>
            <p:ph type="title"/>
          </p:nvPr>
        </p:nvSpPr>
        <p:spPr>
          <a:xfrm>
            <a:off x="1300350" y="1565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 b="1"/>
              <a:t>Hardware and Software Required</a:t>
            </a:r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body" idx="1"/>
          </p:nvPr>
        </p:nvSpPr>
        <p:spPr>
          <a:xfrm>
            <a:off x="859775" y="1345300"/>
            <a:ext cx="11106300" cy="50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Hardware Requirements: (a) Computer with Intel 3 or higher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processor with at least 4GB of RAM and 128GB of SSD.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Software Requirements: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(1) Google Colab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(2) Python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Tools required to do this project: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(1) TensorFlow: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(2) Matplotlib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(3) NumPy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(4) Pandas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 b="1"/>
              <a:t>Algorithm</a:t>
            </a:r>
            <a:endParaRPr/>
          </a:p>
        </p:txBody>
      </p:sp>
      <p:sp>
        <p:nvSpPr>
          <p:cNvPr id="167" name="Google Shape;16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rPr lang="en-US" sz="2370" b="1"/>
              <a:t>Long Short-Term Memory (LSTM)</a:t>
            </a:r>
            <a:r>
              <a:rPr lang="en-US" sz="2370"/>
              <a:t> algorithm is used in this project for</a:t>
            </a:r>
            <a:endParaRPr sz="2370"/>
          </a:p>
          <a:p>
            <a:pPr marL="2286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rPr lang="en-US" sz="2370"/>
              <a:t>predicting stock prices. Long Short-Term Memory (LSTM) networks are often</a:t>
            </a:r>
            <a:endParaRPr sz="2370"/>
          </a:p>
          <a:p>
            <a:pPr marL="2286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rPr lang="en-US" sz="2370"/>
              <a:t>considered better for stock market prediction </a:t>
            </a:r>
            <a:endParaRPr sz="2370"/>
          </a:p>
          <a:p>
            <a:pPr marL="2286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endParaRPr sz="2370"/>
          </a:p>
          <a:p>
            <a:pPr marL="228600" lvl="0" indent="-264795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370"/>
              <a:buChar char="•"/>
            </a:pPr>
            <a:r>
              <a:rPr lang="en-US" sz="2370"/>
              <a:t>Ability to capture large sequential data and can learn long-term</a:t>
            </a:r>
            <a:endParaRPr sz="2370"/>
          </a:p>
          <a:p>
            <a:pPr marL="2286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rPr lang="en-US" sz="2370"/>
              <a:t>dependencies.</a:t>
            </a:r>
            <a:endParaRPr sz="2370"/>
          </a:p>
          <a:p>
            <a:pPr marL="228600" lvl="0" indent="-264795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370"/>
              <a:buChar char="•"/>
            </a:pPr>
            <a:r>
              <a:rPr lang="en-US" sz="2370"/>
              <a:t>It can handle Non-Linear and complex Patterns in the chart or prices</a:t>
            </a:r>
            <a:endParaRPr sz="2370"/>
          </a:p>
          <a:p>
            <a:pPr marL="228600" lvl="0" indent="-264795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370"/>
              <a:buChar char="•"/>
            </a:pPr>
            <a:r>
              <a:rPr lang="en-US" sz="2370"/>
              <a:t>It is more suited for time series data</a:t>
            </a:r>
            <a:endParaRPr sz="2370" b="1"/>
          </a:p>
          <a:p>
            <a:pPr marL="228600" lvl="0" indent="-264795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370"/>
              <a:buChar char="•"/>
            </a:pPr>
            <a:r>
              <a:rPr lang="en-US" sz="2370"/>
              <a:t>It has ability to learn from noise and volatility, since stock prices are</a:t>
            </a:r>
            <a:endParaRPr sz="2370"/>
          </a:p>
          <a:p>
            <a:pPr marL="2286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rPr lang="en-US" sz="2370"/>
              <a:t>often noisy and volatile</a:t>
            </a:r>
            <a:endParaRPr sz="2370"/>
          </a:p>
          <a:p>
            <a:pPr marL="228600" lvl="0" indent="-508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endParaRPr sz="2370"/>
          </a:p>
        </p:txBody>
      </p:sp>
      <p:sp>
        <p:nvSpPr>
          <p:cNvPr id="168" name="Google Shape;16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 b="1"/>
              <a:t>Methodology</a:t>
            </a:r>
            <a:endParaRPr/>
          </a:p>
        </p:txBody>
      </p:sp>
      <p:sp>
        <p:nvSpPr>
          <p:cNvPr id="174" name="Google Shape;17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75" name="Google Shape;1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18400"/>
            <a:ext cx="11473300" cy="458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889a89e80_0_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Development Life Cycle</a:t>
            </a:r>
            <a:endParaRPr/>
          </a:p>
        </p:txBody>
      </p:sp>
      <p:sp>
        <p:nvSpPr>
          <p:cNvPr id="182" name="Google Shape;182;g2f889a89e80_0_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/>
              <a:t>Iterative Model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Why?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Phased Approach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Feedback Loops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Risk Management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Flexibility</a:t>
            </a:r>
            <a:endParaRPr/>
          </a:p>
        </p:txBody>
      </p:sp>
      <p:sp>
        <p:nvSpPr>
          <p:cNvPr id="183" name="Google Shape;183;g2f889a89e80_0_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84" name="Google Shape;184;g2f889a89e80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4275" y="1499603"/>
            <a:ext cx="6196300" cy="46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300" y="847475"/>
            <a:ext cx="7676626" cy="590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7"/>
          <p:cNvSpPr txBox="1"/>
          <p:nvPr/>
        </p:nvSpPr>
        <p:spPr>
          <a:xfrm>
            <a:off x="586675" y="171950"/>
            <a:ext cx="5826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Gantt Chart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Expected Outcomes</a:t>
            </a:r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228600" lvl="0" indent="-76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99" name="Google Shape;1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4300" y="1427777"/>
            <a:ext cx="9071525" cy="474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>
            <a:spLocks noGrp="1"/>
          </p:cNvSpPr>
          <p:nvPr>
            <p:ph type="title"/>
          </p:nvPr>
        </p:nvSpPr>
        <p:spPr>
          <a:xfrm>
            <a:off x="838200" y="1223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400" b="1">
                <a:latin typeface="Times New Roman"/>
                <a:ea typeface="Times New Roman"/>
                <a:cs typeface="Times New Roman"/>
                <a:sym typeface="Times New Roman"/>
              </a:rPr>
              <a:t>Evaluation/Testing</a:t>
            </a:r>
            <a:endParaRPr sz="4200"/>
          </a:p>
        </p:txBody>
      </p:sp>
      <p:sp>
        <p:nvSpPr>
          <p:cNvPr id="205" name="Google Shape;205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/>
              <a:t>Mean Squared Error (MSE):</a:t>
            </a:r>
            <a:endParaRPr b="1"/>
          </a:p>
          <a:p>
            <a:pPr marL="228600" lvl="0" indent="-50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MSE measures the average of the squared differences between the predicted and actual values.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Goal: Minimize the MSE to improve the accuracy of predictions.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Interpretation: Lower MSE indicates better model performance.</a:t>
            </a:r>
            <a:endParaRPr/>
          </a:p>
        </p:txBody>
      </p:sp>
      <p:sp>
        <p:nvSpPr>
          <p:cNvPr id="206" name="Google Shape;20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07" name="Google Shape;2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6275" y="3291850"/>
            <a:ext cx="407670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213" name="Google Shape;213;p20"/>
          <p:cNvSpPr txBox="1">
            <a:spLocks noGrp="1"/>
          </p:cNvSpPr>
          <p:nvPr>
            <p:ph type="body" idx="1"/>
          </p:nvPr>
        </p:nvSpPr>
        <p:spPr>
          <a:xfrm>
            <a:off x="631500" y="1138650"/>
            <a:ext cx="11496600" cy="56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29"/>
              <a:t>[1] Kumar et al., 2022a D. Kumar, P.K. Sarangi, R. Verma, A systematic review of</a:t>
            </a: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29"/>
              <a:t>stock market prediction using machine learning and statistical techniques Mate.</a:t>
            </a: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29"/>
              <a:t>Today Proc, 49 (8) (2022), pp. 3187-3191,</a:t>
            </a: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29" u="sng">
                <a:solidFill>
                  <a:schemeClr val="hlink"/>
                </a:solidFill>
                <a:hlinkClick r:id="rId3"/>
              </a:rPr>
              <a:t>https://doi.org/10.1016/j.matpr.2020.11.399</a:t>
            </a: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29"/>
              <a:t>[2] Computational Intelligence and Financial Markets: A Survey and Future</a:t>
            </a: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29"/>
              <a:t>Directions Rodolfo C. Cavalcante,Rodrigo C. Brasileiro,Victor L.F. Souza,Jarley P.</a:t>
            </a: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29"/>
              <a:t>Nobrega,Adriano L.I. Oliveira</a:t>
            </a: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29" u="sng">
                <a:solidFill>
                  <a:schemeClr val="hlink"/>
                </a:solidFill>
                <a:hlinkClick r:id="rId4"/>
              </a:rPr>
              <a:t>https://doi.org/10.1016/j.eswa.2016.02.006</a:t>
            </a: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29"/>
              <a:t>[3] Nti et al., 2020 I.K. Nti, A.F. Adekoya, B.A. Weyori, A systematic review of</a:t>
            </a: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29"/>
              <a:t>fundamental and technical analysis of stock market predictions ARTIFICIAL</a:t>
            </a: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29"/>
              <a:t>INTELLIGENCE REVIEW, 53 (4) (2020), pp. 3007-3057,</a:t>
            </a: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29" u="sng">
                <a:solidFill>
                  <a:schemeClr val="hlink"/>
                </a:solidFill>
                <a:hlinkClick r:id="rId5"/>
              </a:rPr>
              <a:t>https://doi.org/10.1007/s10462-019-09754-z</a:t>
            </a: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endParaRPr sz="1629"/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endParaRPr sz="1629"/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29"/>
              <a:t>[4] Mondal, Prapanna &amp; Shit, Labani &amp; Goswami, Saptarsi. (2014). Study of Effectiveness of </a:t>
            </a: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29"/>
              <a:t>Time Series Modeling (Arima) in Forecasting Stock Prices. International Journal of Computer Science, Engineering and Applications. 4. 13-29.</a:t>
            </a: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29" u="sng">
                <a:solidFill>
                  <a:schemeClr val="hlink"/>
                </a:solidFill>
                <a:hlinkClick r:id="rId6"/>
              </a:rPr>
              <a:t>http://dx.doi.org/10.5121/ijcsea.2014.4202</a:t>
            </a: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29"/>
              <a:t>[5] Siami Namini, Sima &amp; Siami Namin, Akbar. (2018). Forecasting Economics and</a:t>
            </a: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29"/>
              <a:t>Financial Time Series: ARIMA vs. LSTM.</a:t>
            </a: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29" u="sng">
                <a:solidFill>
                  <a:schemeClr val="hlink"/>
                </a:solidFill>
                <a:hlinkClick r:id="rId7"/>
              </a:rPr>
              <a:t>https://doi.org/10.1109/BigData47090.2019.9005997</a:t>
            </a: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endParaRPr sz="1629"/>
          </a:p>
          <a:p>
            <a:pPr marL="228600" lvl="0" indent="-50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endParaRPr sz="1629"/>
          </a:p>
        </p:txBody>
      </p:sp>
      <p:sp>
        <p:nvSpPr>
          <p:cNvPr id="214" name="Google Shape;2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     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                    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THANK YOU…</a:t>
            </a:r>
            <a:endParaRPr/>
          </a:p>
        </p:txBody>
      </p:sp>
      <p:sp>
        <p:nvSpPr>
          <p:cNvPr id="220" name="Google Shape;22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1066</Words>
  <Application>Microsoft Office PowerPoint</Application>
  <PresentationFormat>Widescreen</PresentationFormat>
  <Paragraphs>166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Georgia</vt:lpstr>
      <vt:lpstr>Times New Roman</vt:lpstr>
      <vt:lpstr>Office Theme</vt:lpstr>
      <vt:lpstr>Minor Project on Stock Market Analysis and Forecasting</vt:lpstr>
      <vt:lpstr>Contents</vt:lpstr>
      <vt:lpstr>Introduction/Background </vt:lpstr>
      <vt:lpstr>Statement of Problem</vt:lpstr>
      <vt:lpstr>Objectives</vt:lpstr>
      <vt:lpstr>Literature Review</vt:lpstr>
      <vt:lpstr>PowerPoint Presentation</vt:lpstr>
      <vt:lpstr>PowerPoint Presentation</vt:lpstr>
      <vt:lpstr> 4) NSE Stock Market Prediction Using Deep-Learning Models</vt:lpstr>
      <vt:lpstr>     5. Stock Price Prediction Using Machine Learning and LSTM-Based Deep Learning Models </vt:lpstr>
      <vt:lpstr>Hardware and Software Required</vt:lpstr>
      <vt:lpstr>Algorithm</vt:lpstr>
      <vt:lpstr>Methodology</vt:lpstr>
      <vt:lpstr>System Development Life Cycle</vt:lpstr>
      <vt:lpstr>PowerPoint Presentation</vt:lpstr>
      <vt:lpstr>Expected Outcomes</vt:lpstr>
      <vt:lpstr>Evaluation/Testing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Shreya Rawal</dc:creator>
  <cp:lastModifiedBy>BBhuwan Joshi</cp:lastModifiedBy>
  <cp:revision>5</cp:revision>
  <dcterms:created xsi:type="dcterms:W3CDTF">2024-09-20T11:01:39Z</dcterms:created>
  <dcterms:modified xsi:type="dcterms:W3CDTF">2024-09-24T17:23:19Z</dcterms:modified>
</cp:coreProperties>
</file>